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148840"/>
            <a:ext cx="10088575" cy="7955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0" spc="-90">
                <a:solidFill>
                  <a:srgbClr val="0A0A0A"/>
                </a:solidFill>
                <a:latin typeface="Arial Black"/>
              </a:rPr>
              <a:t>Pick the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44368"/>
            <a:ext cx="10088575" cy="7955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0" spc="-90">
                <a:solidFill>
                  <a:srgbClr val="2454F0"/>
                </a:solidFill>
                <a:latin typeface="Arial Black"/>
              </a:rPr>
              <a:t>Claude.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059935"/>
            <a:ext cx="8778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>
                <a:solidFill>
                  <a:srgbClr val="767C88"/>
                </a:solidFill>
                <a:latin typeface="Helvetica Neue"/>
              </a:rPr>
              <a:t>Five minutes here saves you a month.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989320"/>
            <a:ext cx="100885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spc="240">
                <a:solidFill>
                  <a:srgbClr val="767C88"/>
                </a:solidFill>
                <a:latin typeface="Menlo"/>
              </a:rPr>
              <a:t>LESSON  ·  WHICH CLAUDE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41248"/>
            <a:ext cx="100885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240">
                <a:solidFill>
                  <a:srgbClr val="2454F0"/>
                </a:solidFill>
                <a:latin typeface="Menlo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298448"/>
            <a:ext cx="640080" cy="25603"/>
          </a:xfrm>
          <a:prstGeom prst="rect">
            <a:avLst/>
          </a:prstGeom>
          <a:solidFill>
            <a:srgbClr val="24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11335" y="60533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spc="120">
                <a:solidFill>
                  <a:srgbClr val="767C88"/>
                </a:solidFill>
                <a:latin typeface="Menlo"/>
              </a:rPr>
              <a:t>2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10088575" cy="589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 spc="-90">
                <a:solidFill>
                  <a:srgbClr val="0A0A0A"/>
                </a:solidFill>
                <a:latin typeface="Arial Black"/>
              </a:rPr>
              <a:t>Most wasted time 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3800"/>
            <a:ext cx="10088575" cy="589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 spc="-90">
                <a:solidFill>
                  <a:srgbClr val="0A0A0A"/>
                </a:solidFill>
                <a:latin typeface="Arial Black"/>
              </a:rPr>
              <a:t>from the </a:t>
            </a:r>
            <a:r>
              <a:rPr sz="4000" b="0" spc="-90">
                <a:solidFill>
                  <a:srgbClr val="2454F0"/>
                </a:solidFill>
                <a:latin typeface="Arial Black"/>
              </a:rPr>
              <a:t>wrong Claude.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64560"/>
            <a:ext cx="8778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>
                <a:solidFill>
                  <a:srgbClr val="767C88"/>
                </a:solidFill>
                <a:latin typeface="Helvetica Neue"/>
              </a:rPr>
              <a:t>Not from prompting badly. Not from the model. From forcing every job through one window.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41248"/>
            <a:ext cx="100885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240">
                <a:solidFill>
                  <a:srgbClr val="2454F0"/>
                </a:solidFill>
                <a:latin typeface="Menlo"/>
              </a:rPr>
              <a:t>ONE QUESTION SORTS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298448"/>
            <a:ext cx="640080" cy="25603"/>
          </a:xfrm>
          <a:prstGeom prst="rect">
            <a:avLst/>
          </a:prstGeom>
          <a:solidFill>
            <a:srgbClr val="24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11335" y="60533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spc="120">
                <a:solidFill>
                  <a:srgbClr val="767C88"/>
                </a:solidFill>
                <a:latin typeface="Menlo"/>
              </a:rPr>
              <a:t>3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10088575" cy="618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200" b="0" spc="-90">
                <a:solidFill>
                  <a:srgbClr val="2454F0"/>
                </a:solidFill>
                <a:latin typeface="Arial Black"/>
              </a:rPr>
              <a:t>Does the job touch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50464"/>
            <a:ext cx="10088575" cy="618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200" b="0" spc="-90">
                <a:solidFill>
                  <a:srgbClr val="2454F0"/>
                </a:solidFill>
                <a:latin typeface="Arial Black"/>
              </a:rPr>
              <a:t>files on your computer?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41248"/>
            <a:ext cx="100885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240">
                <a:solidFill>
                  <a:srgbClr val="2454F0"/>
                </a:solidFill>
                <a:latin typeface="Menlo"/>
              </a:rPr>
              <a:t>IF THE ANSWER IS NO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298448"/>
            <a:ext cx="640080" cy="25603"/>
          </a:xfrm>
          <a:prstGeom prst="rect">
            <a:avLst/>
          </a:prstGeom>
          <a:solidFill>
            <a:srgbClr val="24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11335" y="60533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spc="120">
                <a:solidFill>
                  <a:srgbClr val="767C88"/>
                </a:solidFill>
                <a:latin typeface="Menlo"/>
              </a:rPr>
              <a:t>4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10088575" cy="618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200" b="0" spc="-90">
                <a:solidFill>
                  <a:srgbClr val="0A0A0A"/>
                </a:solidFill>
                <a:latin typeface="Arial Black"/>
              </a:rPr>
              <a:t>Use the </a:t>
            </a:r>
            <a:r>
              <a:rPr sz="4200" b="0" spc="-90">
                <a:solidFill>
                  <a:srgbClr val="2454F0"/>
                </a:solidFill>
                <a:latin typeface="Arial Black"/>
              </a:rPr>
              <a:t>chat window.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67584"/>
            <a:ext cx="8778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>
                <a:solidFill>
                  <a:srgbClr val="767C88"/>
                </a:solidFill>
                <a:latin typeface="Helvetica Neue"/>
              </a:rPr>
              <a:t>You are thinking, writing, deciding. A chat window is the right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977639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0A0A0A"/>
                </a:solidFill>
                <a:latin typeface="Helvetica Neue"/>
              </a:rPr>
              <a:t>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3977639"/>
            <a:ext cx="688817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0">
                <a:solidFill>
                  <a:srgbClr val="767C88"/>
                </a:solidFill>
                <a:latin typeface="Helvetica Neue"/>
              </a:rPr>
              <a:t>chat in your browser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672583"/>
            <a:ext cx="10088575" cy="10972"/>
          </a:xfrm>
          <a:prstGeom prst="rect">
            <a:avLst/>
          </a:prstGeom>
          <a:solidFill>
            <a:srgbClr val="DF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18888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0A0A0A"/>
                </a:solidFill>
                <a:latin typeface="Helvetica Neue"/>
              </a:rPr>
              <a:t>Desktop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4818888"/>
            <a:ext cx="688817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0">
                <a:solidFill>
                  <a:srgbClr val="767C88"/>
                </a:solidFill>
                <a:latin typeface="Helvetica Neue"/>
              </a:rPr>
              <a:t>the same chat, installed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41248"/>
            <a:ext cx="100885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240">
                <a:solidFill>
                  <a:srgbClr val="2454F0"/>
                </a:solidFill>
                <a:latin typeface="Menlo"/>
              </a:rPr>
              <a:t>IF THE ANSWER IS YES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298448"/>
            <a:ext cx="640080" cy="25603"/>
          </a:xfrm>
          <a:prstGeom prst="rect">
            <a:avLst/>
          </a:prstGeom>
          <a:solidFill>
            <a:srgbClr val="24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11335" y="60533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spc="120">
                <a:solidFill>
                  <a:srgbClr val="767C88"/>
                </a:solidFill>
                <a:latin typeface="Menlo"/>
              </a:rPr>
              <a:t>5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10088575" cy="618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200" b="0" spc="-90">
                <a:solidFill>
                  <a:srgbClr val="0A0A0A"/>
                </a:solidFill>
                <a:latin typeface="Arial Black"/>
              </a:rPr>
              <a:t>Use </a:t>
            </a:r>
            <a:r>
              <a:rPr sz="4200" b="0" spc="-90">
                <a:solidFill>
                  <a:srgbClr val="2454F0"/>
                </a:solidFill>
                <a:latin typeface="Arial Black"/>
              </a:rPr>
              <a:t>Claude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67584"/>
            <a:ext cx="8778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>
                <a:solidFill>
                  <a:srgbClr val="767C88"/>
                </a:solidFill>
                <a:latin typeface="Helvetica Neue"/>
              </a:rPr>
              <a:t>Files read, written, moved, run. A chat window can only hand you text to paste.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977639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0A0A0A"/>
                </a:solidFill>
                <a:latin typeface="Helvetica Neue"/>
              </a:rPr>
              <a:t>Reads and writes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3977639"/>
            <a:ext cx="688817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0">
                <a:solidFill>
                  <a:srgbClr val="767C88"/>
                </a:solidFill>
                <a:latin typeface="Helvetica Neue"/>
              </a:rPr>
              <a:t>your actual project, on disk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672583"/>
            <a:ext cx="10088575" cy="10972"/>
          </a:xfrm>
          <a:prstGeom prst="rect">
            <a:avLst/>
          </a:prstGeom>
          <a:solidFill>
            <a:srgbClr val="DF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818888"/>
            <a:ext cx="3200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0A0A0A"/>
                </a:solidFill>
                <a:latin typeface="Helvetica Neue"/>
              </a:rPr>
              <a:t>Runs things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4818888"/>
            <a:ext cx="688817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0">
                <a:solidFill>
                  <a:srgbClr val="767C88"/>
                </a:solidFill>
                <a:latin typeface="Helvetica Neue"/>
              </a:rPr>
              <a:t>commands, tests, the build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41248"/>
            <a:ext cx="100885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240">
                <a:solidFill>
                  <a:srgbClr val="2454F0"/>
                </a:solidFill>
                <a:latin typeface="Menlo"/>
              </a:rPr>
              <a:t>WHAT EACH ONE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298448"/>
            <a:ext cx="640080" cy="25603"/>
          </a:xfrm>
          <a:prstGeom prst="rect">
            <a:avLst/>
          </a:prstGeom>
          <a:solidFill>
            <a:srgbClr val="24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11335" y="60533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spc="120">
                <a:solidFill>
                  <a:srgbClr val="767C88"/>
                </a:solidFill>
                <a:latin typeface="Menlo"/>
              </a:rPr>
              <a:t>6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088575" cy="589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 spc="-90">
                <a:solidFill>
                  <a:srgbClr val="0A0A0A"/>
                </a:solidFill>
                <a:latin typeface="Arial Black"/>
              </a:rPr>
              <a:t>The four, </a:t>
            </a:r>
            <a:r>
              <a:rPr sz="4000" b="0" spc="-90">
                <a:solidFill>
                  <a:srgbClr val="2454F0"/>
                </a:solidFill>
                <a:latin typeface="Arial Black"/>
              </a:rPr>
              <a:t>plainly.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Helvetica Neue"/>
              </a:rPr>
              <a:t>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788920"/>
            <a:ext cx="679673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767C88"/>
                </a:solidFill>
                <a:latin typeface="Helvetica Neue"/>
              </a:rPr>
              <a:t>Chat in your browser. Connects to your apps.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3465575"/>
            <a:ext cx="10088575" cy="10972"/>
          </a:xfrm>
          <a:prstGeom prst="rect">
            <a:avLst/>
          </a:prstGeom>
          <a:solidFill>
            <a:srgbClr val="DF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611879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Helvetica Neue"/>
              </a:rPr>
              <a:t>Desktop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611879"/>
            <a:ext cx="679673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767C88"/>
                </a:solidFill>
                <a:latin typeface="Helvetica Neue"/>
              </a:rPr>
              <a:t>The same chat, installed. Worth it for connectors.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4288536"/>
            <a:ext cx="10088575" cy="10972"/>
          </a:xfrm>
          <a:prstGeom prst="rect">
            <a:avLst/>
          </a:prstGeom>
          <a:solidFill>
            <a:srgbClr val="DF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434840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Helvetica Neue"/>
              </a:rPr>
              <a:t>Claude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434840"/>
            <a:ext cx="679673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767C88"/>
                </a:solidFill>
                <a:latin typeface="Helvetica Neue"/>
              </a:rPr>
              <a:t>Terminal, real files. Most of this course.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5111496"/>
            <a:ext cx="10088575" cy="10972"/>
          </a:xfrm>
          <a:prstGeom prst="rect">
            <a:avLst/>
          </a:prstGeom>
          <a:solidFill>
            <a:srgbClr val="DF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257800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Helvetica Neue"/>
              </a:rPr>
              <a:t>Cowork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5257800"/>
            <a:ext cx="679673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767C88"/>
                </a:solidFill>
                <a:latin typeface="Helvetica Neue"/>
              </a:rPr>
              <a:t>The newest. The video covers it better than I can.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41248"/>
            <a:ext cx="100885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spc="240">
                <a:solidFill>
                  <a:srgbClr val="2454F0"/>
                </a:solidFill>
                <a:latin typeface="Menlo"/>
              </a:rPr>
              <a:t>THE 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1298448"/>
            <a:ext cx="640080" cy="25603"/>
          </a:xfrm>
          <a:prstGeom prst="rect">
            <a:avLst/>
          </a:prstGeom>
          <a:solidFill>
            <a:srgbClr val="245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11335" y="60533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spc="120">
                <a:solidFill>
                  <a:srgbClr val="767C88"/>
                </a:solidFill>
                <a:latin typeface="Menlo"/>
              </a:rPr>
              <a:t>7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88575" cy="648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0" spc="-90">
                <a:solidFill>
                  <a:srgbClr val="0A0A0A"/>
                </a:solidFill>
                <a:latin typeface="Arial Black"/>
              </a:rPr>
              <a:t>I use all four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14168"/>
            <a:ext cx="10088575" cy="648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0" spc="-90">
                <a:solidFill>
                  <a:srgbClr val="0A0A0A"/>
                </a:solidFill>
                <a:latin typeface="Arial Black"/>
              </a:rPr>
              <a:t>in the </a:t>
            </a:r>
            <a:r>
              <a:rPr sz="4400" b="0" spc="-90">
                <a:solidFill>
                  <a:srgbClr val="2454F0"/>
                </a:solidFill>
                <a:latin typeface="Arial Black"/>
              </a:rPr>
              <a:t>same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628136"/>
            <a:ext cx="8778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>
                <a:solidFill>
                  <a:srgbClr val="767C88"/>
                </a:solidFill>
                <a:latin typeface="Helvetica Neue"/>
              </a:rPr>
              <a:t>The mistake is not picking wrong once. It is forcing every job through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