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8" r:id="rId10"/>
    <p:sldId id="260" r:id="rId12"/>
    <p:sldId id="259" r:id="rId11"/>
    <p:sldId id="261" r:id="rId13"/>
    <p:sldId id="263" r:id="rId15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36794"/>
              <a:satOff val="-2150"/>
              <a:lumOff val="15693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3">
              <a:alpha val="35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8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1.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creenshot 2025-10-25 at 14.42.57.png" descr="Screenshot 2025-10-25 at 14.42.57.png"/>
          <p:cNvPicPr>
            <a:picLocks noChangeAspect="1"/>
          </p:cNvPicPr>
          <p:nvPr/>
        </p:nvPicPr>
        <p:blipFill>
          <a:blip r:embed="rId2">
            <a:extLst/>
          </a:blip>
          <a:srcRect l="2671" t="0" r="2671" b="0"/>
          <a:stretch>
            <a:fillRect/>
          </a:stretch>
        </p:blipFill>
        <p:spPr>
          <a:xfrm>
            <a:off x="-49594" y="0"/>
            <a:ext cx="24483188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tyler ai wordmark" descr="KOURSE-NEGATIVE VERSION (1)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. 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yler ai wordmark" descr="KOURSE-DARK-VERS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Agenda"/>
          <p:cNvSpPr txBox="1"/>
          <p:nvPr/>
        </p:nvSpPr>
        <p:spPr>
          <a:xfrm>
            <a:off x="1314578" y="765458"/>
            <a:ext cx="2309941" cy="82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3700">
                <a:solidFill>
                  <a:srgbClr val="000000"/>
                </a:solidFill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. INT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tyler ai wordmark" descr="KOURSE-DARK-VERS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4. TITLE">
    <p:bg>
      <p:bgPr>
        <a:solidFill>
          <a:srgbClr val="EE4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Screenshot 2025-10-25 at 14.42.57.png" descr="Screenshot 2025-10-25 at 14.42.57.png"/>
          <p:cNvPicPr>
            <a:picLocks noChangeAspect="1"/>
          </p:cNvPicPr>
          <p:nvPr/>
        </p:nvPicPr>
        <p:blipFill>
          <a:blip r:embed="rId2">
            <a:extLst/>
          </a:blip>
          <a:srcRect l="2671" t="0" r="2671" b="0"/>
          <a:stretch>
            <a:fillRect/>
          </a:stretch>
        </p:blipFill>
        <p:spPr>
          <a:xfrm>
            <a:off x="-49594" y="0"/>
            <a:ext cx="24483188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tyler ai wordmark" descr="KOURSE-NEGATIVE VERSION (1)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5.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. SUMMAR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Screenshot 2025-10-25 at 14.42.57.png" descr="Screenshot 2025-10-25 at 14.42.57.png"/>
          <p:cNvPicPr>
            <a:picLocks noChangeAspect="1"/>
          </p:cNvPicPr>
          <p:nvPr/>
        </p:nvPicPr>
        <p:blipFill>
          <a:blip r:embed="rId2">
            <a:extLst/>
          </a:blip>
          <a:srcRect l="2671" t="0" r="2671" b="0"/>
          <a:stretch>
            <a:fillRect/>
          </a:stretch>
        </p:blipFill>
        <p:spPr>
          <a:xfrm>
            <a:off x="-49594" y="0"/>
            <a:ext cx="24483188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tyler ai wordmark" descr="KOURSE-NEGATIVE VERSION (1)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. ACTION ITEM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tyler ai wordmark" descr="KOURSE-DARK-VERS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Summary"/>
          <p:cNvSpPr txBox="1"/>
          <p:nvPr/>
        </p:nvSpPr>
        <p:spPr>
          <a:xfrm>
            <a:off x="1314578" y="765458"/>
            <a:ext cx="2772840" cy="82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3700">
                <a:solidFill>
                  <a:srgbClr val="000000"/>
                </a:solidFill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yler ai wordmark" descr="KOURSE-NEGATIVE VERSION (1)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517" y="12886394"/>
            <a:ext cx="1120782" cy="31830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082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10527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14972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19417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23862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28307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32752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37197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4164263" marR="0" indent="-608263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"/>
          <p:cNvSpPr txBox="1"/>
          <p:nvPr/>
        </p:nvSpPr>
        <p:spPr>
          <a:xfrm>
            <a:off x="2976998" y="5853112"/>
            <a:ext cx="18430003" cy="20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000000"/>
                </a:solidFill>
              </a:rPr>
              <a:t>Pick the right Claude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one"/>
          <p:cNvSpPr txBox="1"/>
          <p:nvPr/>
        </p:nvSpPr>
        <p:spPr>
          <a:xfrm>
            <a:off x="2976998" y="5853112"/>
            <a:ext cx="18430003" cy="20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000000"/>
                </a:solidFill>
              </a:rPr>
              <a:t>Most wasted time comes from the wrong Claude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one"/>
          <p:cNvSpPr txBox="1"/>
          <p:nvPr/>
        </p:nvSpPr>
        <p:spPr>
          <a:xfrm>
            <a:off x="2940532" y="1794746"/>
            <a:ext cx="18430004" cy="82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7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FFFFFF"/>
                </a:solidFill>
              </a:rPr>
              <a:t>If the answer is no</a:t>
            </a:r>
          </a:p>
        </p:txBody>
      </p:sp>
      <p:sp>
        <p:nvSpPr>
          <p:cNvPr id="84" name="Lorem — Ipsum…"/>
          <p:cNvSpPr txBox="1"/>
          <p:nvPr/>
        </p:nvSpPr>
        <p:spPr>
          <a:xfrm>
            <a:off x="1943966" y="4252912"/>
            <a:ext cx="21212222" cy="6416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Web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chat in your browser, nothing to install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Desktop app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the same chat, installed. Worth it for connectors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Either one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is the right tool when you are thinking, writing, deciding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10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8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two"/>
          <p:cNvSpPr txBox="1"/>
          <p:nvPr/>
        </p:nvSpPr>
        <p:spPr>
          <a:xfrm>
            <a:off x="2976998" y="5853112"/>
            <a:ext cx="18430003" cy="20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000000"/>
                </a:solidFill>
              </a:rPr>
              <a:t>Does the job touch real files on your computer?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wo"/>
          <p:cNvSpPr txBox="1"/>
          <p:nvPr/>
        </p:nvSpPr>
        <p:spPr>
          <a:xfrm>
            <a:off x="2940532" y="1794746"/>
            <a:ext cx="18430004" cy="82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7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FFFFFF"/>
                </a:solidFill>
              </a:rPr>
              <a:t>If the answer is yes</a:t>
            </a:r>
          </a:p>
        </p:txBody>
      </p:sp>
      <p:sp>
        <p:nvSpPr>
          <p:cNvPr id="89" name="Lorem — Ipsum…"/>
          <p:cNvSpPr txBox="1"/>
          <p:nvPr/>
        </p:nvSpPr>
        <p:spPr>
          <a:xfrm>
            <a:off x="1943966" y="4252912"/>
            <a:ext cx="21212222" cy="6416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Claude Code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terminal, real files. Most of this course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It reads and writes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your actual project, on disk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It runs things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commands, tests, the build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A chat window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can only hand you text to paste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10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8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three"/>
          <p:cNvSpPr txBox="1"/>
          <p:nvPr/>
        </p:nvSpPr>
        <p:spPr>
          <a:xfrm>
            <a:off x="2940532" y="1794746"/>
            <a:ext cx="18430004" cy="82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7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FFFFFF"/>
                </a:solidFill>
              </a:rPr>
              <a:t>The four, plainly</a:t>
            </a:r>
          </a:p>
        </p:txBody>
      </p:sp>
      <p:sp>
        <p:nvSpPr>
          <p:cNvPr id="94" name="Lorem — Ipsum…"/>
          <p:cNvSpPr txBox="1"/>
          <p:nvPr/>
        </p:nvSpPr>
        <p:spPr>
          <a:xfrm>
            <a:off x="1943966" y="4252912"/>
            <a:ext cx="21212222" cy="6416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Web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chat in your browser. Connects to your apps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Desktop app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the same chat, installed. Worth it for connectors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Claude Code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terminal, real files. Most of this course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  <a:p>
            <a:pPr marL="1270000" indent="-1270000" algn="l">
              <a:lnSpc>
                <a:spcPct val="150000"/>
              </a:lnSpc>
              <a:buSzPct val="50000"/>
              <a:buBlip>
                <a:blip r:embed="rId2"/>
              </a:buBlip>
              <a:defRPr sz="2600">
                <a:latin typeface="Helvetica Now Var Text Medium"/>
                <a:ea typeface="Helvetica Now Var Text Medium"/>
                <a:cs typeface="Helvetica Now Var Text Medium"/>
                <a:sym typeface="Helvetica Now Var Text Medium"/>
              </a:defRPr>
            </a:pPr>
            <a:r>
              <a:rPr>
                <a:solidFill>
                  <a:srgbClr val="FFFFFF"/>
                </a:solidFill>
                <a:latin typeface="Helvetica Now Var Text Black"/>
                <a:ea typeface="Helvetica Now Var Text Black"/>
                <a:cs typeface="Helvetica Now Var Text Black"/>
                <a:sym typeface="Helvetica Now Var Text Black"/>
              </a:rPr>
              <a:t>Cowork — </a:t>
            </a:r>
            <a:r>
              <a:rPr>
                <a:solidFill>
                  <a:srgbClr val="FFFFFF"/>
                </a:solidFill>
                <a:latin typeface="Helvetica Now Var Micro"/>
                <a:ea typeface="Helvetica Now Var Micro"/>
                <a:cs typeface="Helvetica Now Var Micro"/>
                <a:sym typeface="Helvetica Now Var Micro"/>
              </a:rPr>
              <a:t>the newest. The video covers it better than I can</a:t>
            </a:r>
            <a:br>
              <a:rPr>
                <a:latin typeface="Helvetica Now Var Micro"/>
                <a:ea typeface="Helvetica Now Var Micro"/>
                <a:cs typeface="Helvetica Now Var Micro"/>
                <a:sym typeface="Helvetica Now Var Micro"/>
              </a:rPr>
            </a:br>
            <a:endParaRPr>
              <a:latin typeface="Helvetica Now Var Micro"/>
              <a:ea typeface="Helvetica Now Var Micro"/>
              <a:cs typeface="Helvetica Now Var Micro"/>
              <a:sym typeface="Helvetica Now Var Micro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10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ummary"/>
          <p:cNvSpPr txBox="1"/>
          <p:nvPr/>
        </p:nvSpPr>
        <p:spPr>
          <a:xfrm>
            <a:off x="2976998" y="5853112"/>
            <a:ext cx="18430003" cy="20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>
                <a:latin typeface="Helvetica Now Var Text Bold"/>
                <a:ea typeface="Helvetica Now Var Text Bold"/>
                <a:cs typeface="Helvetica Now Var Text Bold"/>
                <a:sym typeface="Helvetica Now Var Text Bold"/>
              </a:defRPr>
            </a:lvl1pPr>
          </a:lstStyle>
          <a:p>
            <a:pPr/>
            <a:r>
              <a:rPr>
                <a:solidFill>
                  <a:srgbClr val="000000"/>
                </a:solidFill>
              </a:rPr>
              <a:t>I use all four in the same day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FF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